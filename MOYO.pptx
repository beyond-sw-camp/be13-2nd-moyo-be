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3dfd164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3dfd164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3a09913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3a09913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3dfd1644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3dfd1644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3dfd1644a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3dfd1644a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3dfd1644a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3dfd1644a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3a099136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3a09913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3a09913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3a09913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3a09913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3a09913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dfd1644a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3dfd1644a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3a099136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3a099136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3a099136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3a099136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3a099136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3a099136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3dfd1644a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3dfd1644a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3a099136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3a099136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3a099136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3a099136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3a099136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3a099136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3a099136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3a099136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3a099136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3a099136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3a099136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3a099136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3a099136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3a099136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3a099136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3a099136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3a099136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3a099136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3a099136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3a09913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3a099136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43a099136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43a099136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43a099136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3a0991363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3a099136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3a099136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3a099136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3a099136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3a099136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3a099136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3a099136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43a099136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43a099136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3a099136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3a099136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43a099136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43a099136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43a099136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43a099136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3a099136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43a099136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3a099136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3a099136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3a099136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43a099136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3dfd1644a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43dfd1644a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3a0991363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43a0991363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3a099136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43a099136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3ea7b3f3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3ea7b3f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3a0991363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43a0991363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3dfd1644a_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3dfd1644a_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43a0991363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43a099136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INTRO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1022150" y="1428750"/>
            <a:ext cx="1578000" cy="114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/>
              <a:t>팀원</a:t>
            </a:r>
            <a:endParaRPr b="1" sz="2100"/>
          </a:p>
        </p:txBody>
      </p:sp>
      <p:sp>
        <p:nvSpPr>
          <p:cNvPr id="60" name="Google Shape;60;p14"/>
          <p:cNvSpPr/>
          <p:nvPr/>
        </p:nvSpPr>
        <p:spPr>
          <a:xfrm>
            <a:off x="3709038" y="1428750"/>
            <a:ext cx="1578000" cy="114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/>
              <a:t>팀장</a:t>
            </a:r>
            <a:endParaRPr b="1" sz="2100"/>
          </a:p>
        </p:txBody>
      </p:sp>
      <p:sp>
        <p:nvSpPr>
          <p:cNvPr id="61" name="Google Shape;61;p14"/>
          <p:cNvSpPr/>
          <p:nvPr/>
        </p:nvSpPr>
        <p:spPr>
          <a:xfrm>
            <a:off x="6395925" y="1428750"/>
            <a:ext cx="1578000" cy="114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/>
              <a:t>팀원</a:t>
            </a:r>
            <a:endParaRPr b="1" sz="2100"/>
          </a:p>
        </p:txBody>
      </p:sp>
      <p:cxnSp>
        <p:nvCxnSpPr>
          <p:cNvPr id="62" name="Google Shape;62;p14"/>
          <p:cNvCxnSpPr/>
          <p:nvPr/>
        </p:nvCxnSpPr>
        <p:spPr>
          <a:xfrm>
            <a:off x="2744650" y="1996800"/>
            <a:ext cx="819900" cy="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4"/>
          <p:cNvCxnSpPr/>
          <p:nvPr/>
        </p:nvCxnSpPr>
        <p:spPr>
          <a:xfrm flipH="1">
            <a:off x="5431450" y="1994600"/>
            <a:ext cx="783900" cy="1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4"/>
          <p:cNvSpPr txBox="1"/>
          <p:nvPr/>
        </p:nvSpPr>
        <p:spPr>
          <a:xfrm>
            <a:off x="2849625" y="1428750"/>
            <a:ext cx="783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보고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449538" y="1428750"/>
            <a:ext cx="783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보고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4491900" y="2789725"/>
            <a:ext cx="12300" cy="1540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4"/>
          <p:cNvSpPr txBox="1"/>
          <p:nvPr/>
        </p:nvSpPr>
        <p:spPr>
          <a:xfrm>
            <a:off x="1432250" y="927800"/>
            <a:ext cx="1167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Post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677175" y="931650"/>
            <a:ext cx="1167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Project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497700" y="244400"/>
            <a:ext cx="2646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" sz="1800">
                <a:solidFill>
                  <a:schemeClr val="dk2"/>
                </a:solidFill>
              </a:rPr>
              <a:t>너비 우선: 도메인별</a:t>
            </a:r>
            <a:endParaRPr b="1" i="1"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861075" y="3218275"/>
            <a:ext cx="29841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ko" sz="1800">
                <a:solidFill>
                  <a:schemeClr val="dk2"/>
                </a:solidFill>
              </a:rPr>
              <a:t>깊이 </a:t>
            </a:r>
            <a:r>
              <a:rPr b="1" i="1" lang="ko" sz="1800">
                <a:solidFill>
                  <a:schemeClr val="dk2"/>
                </a:solidFill>
              </a:rPr>
              <a:t>우선: </a:t>
            </a:r>
            <a:r>
              <a:rPr b="1" i="1" lang="ko" sz="1800">
                <a:solidFill>
                  <a:schemeClr val="dk2"/>
                </a:solidFill>
              </a:rPr>
              <a:t>알림, 시큐리티</a:t>
            </a:r>
            <a:endParaRPr b="1" i="1" sz="1800">
              <a:solidFill>
                <a:schemeClr val="dk2"/>
              </a:solidFill>
            </a:endParaRPr>
          </a:p>
        </p:txBody>
      </p:sp>
      <p:cxnSp>
        <p:nvCxnSpPr>
          <p:cNvPr id="71" name="Google Shape;71;p14"/>
          <p:cNvCxnSpPr/>
          <p:nvPr/>
        </p:nvCxnSpPr>
        <p:spPr>
          <a:xfrm flipH="1">
            <a:off x="124250" y="1995150"/>
            <a:ext cx="783900" cy="1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/>
          <p:nvPr/>
        </p:nvCxnSpPr>
        <p:spPr>
          <a:xfrm>
            <a:off x="8125325" y="1996800"/>
            <a:ext cx="819900" cy="6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lg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ctrTitle"/>
          </p:nvPr>
        </p:nvSpPr>
        <p:spPr>
          <a:xfrm>
            <a:off x="260902" y="171575"/>
            <a:ext cx="69480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작업 방식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956950" y="1156775"/>
            <a:ext cx="10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2"/>
                </a:solidFill>
              </a:rPr>
              <a:t>전파</a:t>
            </a:r>
            <a:endParaRPr b="1" sz="29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39675" y="3467250"/>
            <a:ext cx="10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2"/>
                </a:solidFill>
              </a:rPr>
              <a:t>구현</a:t>
            </a:r>
            <a:endParaRPr b="1" sz="29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513850" y="2379275"/>
            <a:ext cx="10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2"/>
                </a:solidFill>
              </a:rPr>
              <a:t>공부</a:t>
            </a:r>
            <a:endParaRPr b="1" sz="29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493950" y="2217750"/>
            <a:ext cx="10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900">
                <a:solidFill>
                  <a:schemeClr val="dk2"/>
                </a:solidFill>
              </a:rPr>
              <a:t>공부</a:t>
            </a:r>
            <a:endParaRPr b="1" sz="2900">
              <a:solidFill>
                <a:schemeClr val="dk2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654525" y="2663300"/>
            <a:ext cx="1511950" cy="1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836100" y="2663300"/>
            <a:ext cx="1511950" cy="1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2445000" y="1059800"/>
            <a:ext cx="1511950" cy="15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100" y="1025475"/>
            <a:ext cx="1511950" cy="15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ctrTitle"/>
          </p:nvPr>
        </p:nvSpPr>
        <p:spPr>
          <a:xfrm>
            <a:off x="-521823" y="121900"/>
            <a:ext cx="6948000" cy="116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시스템 아키텍처</a:t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313" y="1170000"/>
            <a:ext cx="6215372" cy="35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INTRO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575" y="26925"/>
            <a:ext cx="5511401" cy="50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CI/CD </a:t>
            </a:r>
            <a:r>
              <a:rPr lang="ko"/>
              <a:t>시연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주요 기능 소개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 인증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849575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클라이언트</a:t>
            </a:r>
            <a:endParaRPr b="1"/>
          </a:p>
        </p:txBody>
      </p:sp>
      <p:sp>
        <p:nvSpPr>
          <p:cNvPr id="118" name="Google Shape;118;p21"/>
          <p:cNvSpPr/>
          <p:nvPr/>
        </p:nvSpPr>
        <p:spPr>
          <a:xfrm>
            <a:off x="37165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이메일 인증</a:t>
            </a:r>
            <a:endParaRPr b="1"/>
          </a:p>
        </p:txBody>
      </p:sp>
      <p:sp>
        <p:nvSpPr>
          <p:cNvPr id="119" name="Google Shape;119;p21"/>
          <p:cNvSpPr/>
          <p:nvPr/>
        </p:nvSpPr>
        <p:spPr>
          <a:xfrm>
            <a:off x="84957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회원가입 완료</a:t>
            </a:r>
            <a:endParaRPr b="1"/>
          </a:p>
        </p:txBody>
      </p:sp>
      <p:sp>
        <p:nvSpPr>
          <p:cNvPr id="120" name="Google Shape;120;p21"/>
          <p:cNvSpPr/>
          <p:nvPr/>
        </p:nvSpPr>
        <p:spPr>
          <a:xfrm>
            <a:off x="67176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회원 정보 입력</a:t>
            </a:r>
            <a:endParaRPr b="1"/>
          </a:p>
        </p:txBody>
      </p:sp>
      <p:sp>
        <p:nvSpPr>
          <p:cNvPr id="121" name="Google Shape;121;p21"/>
          <p:cNvSpPr/>
          <p:nvPr/>
        </p:nvSpPr>
        <p:spPr>
          <a:xfrm>
            <a:off x="6717650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서버 검증</a:t>
            </a:r>
            <a:endParaRPr b="1"/>
          </a:p>
        </p:txBody>
      </p:sp>
      <p:sp>
        <p:nvSpPr>
          <p:cNvPr id="122" name="Google Shape;122;p21"/>
          <p:cNvSpPr/>
          <p:nvPr/>
        </p:nvSpPr>
        <p:spPr>
          <a:xfrm>
            <a:off x="380642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데이터베이스 저장</a:t>
            </a:r>
            <a:endParaRPr b="1"/>
          </a:p>
        </p:txBody>
      </p:sp>
      <p:cxnSp>
        <p:nvCxnSpPr>
          <p:cNvPr id="123" name="Google Shape;123;p21"/>
          <p:cNvCxnSpPr/>
          <p:nvPr/>
        </p:nvCxnSpPr>
        <p:spPr>
          <a:xfrm>
            <a:off x="2739625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1"/>
          <p:cNvCxnSpPr/>
          <p:nvPr/>
        </p:nvCxnSpPr>
        <p:spPr>
          <a:xfrm>
            <a:off x="5692900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1"/>
          <p:cNvCxnSpPr/>
          <p:nvPr/>
        </p:nvCxnSpPr>
        <p:spPr>
          <a:xfrm>
            <a:off x="7569200" y="2094450"/>
            <a:ext cx="7800" cy="72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1"/>
          <p:cNvCxnSpPr/>
          <p:nvPr/>
        </p:nvCxnSpPr>
        <p:spPr>
          <a:xfrm flipH="1">
            <a:off x="569838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1"/>
          <p:cNvCxnSpPr/>
          <p:nvPr/>
        </p:nvCxnSpPr>
        <p:spPr>
          <a:xfrm flipH="1">
            <a:off x="276433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75" y="281875"/>
            <a:ext cx="7711351" cy="433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8" y="240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시연</a:t>
            </a:r>
            <a:endParaRPr/>
          </a:p>
        </p:txBody>
      </p:sp>
      <p:sp>
        <p:nvSpPr>
          <p:cNvPr id="138" name="Google Shape;138;p23"/>
          <p:cNvSpPr txBox="1"/>
          <p:nvPr>
            <p:ph type="ctrTitle"/>
          </p:nvPr>
        </p:nvSpPr>
        <p:spPr>
          <a:xfrm>
            <a:off x="311708" y="1533200"/>
            <a:ext cx="85206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ko" sz="2500"/>
              <a:t>회원가입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ko" sz="2500"/>
              <a:t>Lock 해제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/>
          <p:nvPr/>
        </p:nvSpPr>
        <p:spPr>
          <a:xfrm>
            <a:off x="849575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클라이언트</a:t>
            </a:r>
            <a:endParaRPr b="1"/>
          </a:p>
        </p:txBody>
      </p:sp>
      <p:sp>
        <p:nvSpPr>
          <p:cNvPr id="149" name="Google Shape;149;p25"/>
          <p:cNvSpPr/>
          <p:nvPr/>
        </p:nvSpPr>
        <p:spPr>
          <a:xfrm>
            <a:off x="37165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로그인</a:t>
            </a:r>
            <a:r>
              <a:rPr b="1" lang="ko"/>
              <a:t> </a:t>
            </a:r>
            <a:r>
              <a:rPr b="1" lang="ko"/>
              <a:t>인증</a:t>
            </a:r>
            <a:endParaRPr b="1"/>
          </a:p>
        </p:txBody>
      </p:sp>
      <p:sp>
        <p:nvSpPr>
          <p:cNvPr id="150" name="Google Shape;150;p25"/>
          <p:cNvSpPr/>
          <p:nvPr/>
        </p:nvSpPr>
        <p:spPr>
          <a:xfrm>
            <a:off x="84957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이후 API 요청시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토큰 사용</a:t>
            </a:r>
            <a:endParaRPr b="1"/>
          </a:p>
        </p:txBody>
      </p:sp>
      <p:sp>
        <p:nvSpPr>
          <p:cNvPr id="151" name="Google Shape;151;p25"/>
          <p:cNvSpPr/>
          <p:nvPr/>
        </p:nvSpPr>
        <p:spPr>
          <a:xfrm>
            <a:off x="67176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사용자 인증</a:t>
            </a:r>
            <a:endParaRPr b="1"/>
          </a:p>
        </p:txBody>
      </p:sp>
      <p:sp>
        <p:nvSpPr>
          <p:cNvPr id="152" name="Google Shape;152;p25"/>
          <p:cNvSpPr/>
          <p:nvPr/>
        </p:nvSpPr>
        <p:spPr>
          <a:xfrm>
            <a:off x="6717650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JWT 토큰 발급</a:t>
            </a:r>
            <a:endParaRPr b="1"/>
          </a:p>
        </p:txBody>
      </p:sp>
      <p:sp>
        <p:nvSpPr>
          <p:cNvPr id="153" name="Google Shape;153;p25"/>
          <p:cNvSpPr/>
          <p:nvPr/>
        </p:nvSpPr>
        <p:spPr>
          <a:xfrm>
            <a:off x="380642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클라이언트 저장</a:t>
            </a:r>
            <a:endParaRPr b="1"/>
          </a:p>
        </p:txBody>
      </p:sp>
      <p:cxnSp>
        <p:nvCxnSpPr>
          <p:cNvPr id="154" name="Google Shape;154;p25"/>
          <p:cNvCxnSpPr/>
          <p:nvPr/>
        </p:nvCxnSpPr>
        <p:spPr>
          <a:xfrm>
            <a:off x="2739625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5"/>
          <p:cNvCxnSpPr/>
          <p:nvPr/>
        </p:nvCxnSpPr>
        <p:spPr>
          <a:xfrm>
            <a:off x="5692900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5"/>
          <p:cNvCxnSpPr/>
          <p:nvPr/>
        </p:nvCxnSpPr>
        <p:spPr>
          <a:xfrm>
            <a:off x="7569200" y="2094450"/>
            <a:ext cx="7800" cy="72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5"/>
          <p:cNvCxnSpPr/>
          <p:nvPr/>
        </p:nvCxnSpPr>
        <p:spPr>
          <a:xfrm flipH="1">
            <a:off x="569838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5"/>
          <p:cNvCxnSpPr/>
          <p:nvPr/>
        </p:nvCxnSpPr>
        <p:spPr>
          <a:xfrm flipH="1">
            <a:off x="276433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269"/>
            <a:ext cx="9144001" cy="390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-11269" l="680" r="-679" t="11270"/>
          <a:stretch/>
        </p:blipFill>
        <p:spPr>
          <a:xfrm>
            <a:off x="668075" y="457200"/>
            <a:ext cx="792935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팀 관리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1202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생성</a:t>
            </a:r>
            <a:endParaRPr b="1"/>
          </a:p>
        </p:txBody>
      </p:sp>
      <p:sp>
        <p:nvSpPr>
          <p:cNvPr id="181" name="Google Shape;181;p29"/>
          <p:cNvSpPr/>
          <p:nvPr/>
        </p:nvSpPr>
        <p:spPr>
          <a:xfrm>
            <a:off x="2430850" y="1202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 가입 신청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수락/거부</a:t>
            </a:r>
            <a:endParaRPr b="1"/>
          </a:p>
        </p:txBody>
      </p:sp>
      <p:sp>
        <p:nvSpPr>
          <p:cNvPr id="182" name="Google Shape;182;p29"/>
          <p:cNvSpPr/>
          <p:nvPr/>
        </p:nvSpPr>
        <p:spPr>
          <a:xfrm>
            <a:off x="4914500" y="1202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및 프로젝트 관리</a:t>
            </a:r>
            <a:endParaRPr b="1"/>
          </a:p>
        </p:txBody>
      </p:sp>
      <p:sp>
        <p:nvSpPr>
          <p:cNvPr id="183" name="Google Shape;183;p29"/>
          <p:cNvSpPr/>
          <p:nvPr/>
        </p:nvSpPr>
        <p:spPr>
          <a:xfrm>
            <a:off x="7433100" y="11974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활동</a:t>
            </a:r>
            <a:endParaRPr b="1"/>
          </a:p>
        </p:txBody>
      </p:sp>
      <p:cxnSp>
        <p:nvCxnSpPr>
          <p:cNvPr id="184" name="Google Shape;184;p29"/>
          <p:cNvCxnSpPr/>
          <p:nvPr/>
        </p:nvCxnSpPr>
        <p:spPr>
          <a:xfrm>
            <a:off x="1735025" y="1657350"/>
            <a:ext cx="671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9"/>
          <p:cNvCxnSpPr/>
          <p:nvPr/>
        </p:nvCxnSpPr>
        <p:spPr>
          <a:xfrm flipH="1" rot="10800000">
            <a:off x="4182475" y="1646550"/>
            <a:ext cx="6612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9"/>
          <p:cNvCxnSpPr/>
          <p:nvPr/>
        </p:nvCxnSpPr>
        <p:spPr>
          <a:xfrm flipH="1" rot="10800000">
            <a:off x="6697075" y="1646550"/>
            <a:ext cx="6612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9"/>
          <p:cNvSpPr txBox="1"/>
          <p:nvPr>
            <p:ph type="ctrTitle"/>
          </p:nvPr>
        </p:nvSpPr>
        <p:spPr>
          <a:xfrm>
            <a:off x="-1628847" y="464075"/>
            <a:ext cx="49686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/>
              <a:t>팀 리더 </a:t>
            </a:r>
            <a:endParaRPr sz="3000"/>
          </a:p>
        </p:txBody>
      </p:sp>
      <p:sp>
        <p:nvSpPr>
          <p:cNvPr id="188" name="Google Shape;188;p29"/>
          <p:cNvSpPr/>
          <p:nvPr/>
        </p:nvSpPr>
        <p:spPr>
          <a:xfrm>
            <a:off x="0" y="3107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</a:t>
            </a:r>
            <a:r>
              <a:rPr b="1" lang="ko"/>
              <a:t>검색</a:t>
            </a:r>
            <a:endParaRPr b="1"/>
          </a:p>
        </p:txBody>
      </p:sp>
      <p:sp>
        <p:nvSpPr>
          <p:cNvPr id="189" name="Google Shape;189;p29"/>
          <p:cNvSpPr/>
          <p:nvPr/>
        </p:nvSpPr>
        <p:spPr>
          <a:xfrm>
            <a:off x="2430850" y="3107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가입 신청</a:t>
            </a:r>
            <a:endParaRPr b="1"/>
          </a:p>
        </p:txBody>
      </p:sp>
      <p:sp>
        <p:nvSpPr>
          <p:cNvPr id="190" name="Google Shape;190;p29"/>
          <p:cNvSpPr/>
          <p:nvPr/>
        </p:nvSpPr>
        <p:spPr>
          <a:xfrm>
            <a:off x="4914500" y="31078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팀장 수락</a:t>
            </a:r>
            <a:endParaRPr b="1"/>
          </a:p>
        </p:txBody>
      </p:sp>
      <p:sp>
        <p:nvSpPr>
          <p:cNvPr id="191" name="Google Shape;191;p29"/>
          <p:cNvSpPr/>
          <p:nvPr/>
        </p:nvSpPr>
        <p:spPr>
          <a:xfrm>
            <a:off x="7433100" y="310245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활동</a:t>
            </a:r>
            <a:endParaRPr b="1"/>
          </a:p>
        </p:txBody>
      </p:sp>
      <p:cxnSp>
        <p:nvCxnSpPr>
          <p:cNvPr id="192" name="Google Shape;192;p29"/>
          <p:cNvCxnSpPr/>
          <p:nvPr/>
        </p:nvCxnSpPr>
        <p:spPr>
          <a:xfrm>
            <a:off x="1735025" y="3562350"/>
            <a:ext cx="671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9"/>
          <p:cNvCxnSpPr/>
          <p:nvPr/>
        </p:nvCxnSpPr>
        <p:spPr>
          <a:xfrm flipH="1" rot="10800000">
            <a:off x="4182475" y="3551550"/>
            <a:ext cx="6612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9"/>
          <p:cNvCxnSpPr/>
          <p:nvPr/>
        </p:nvCxnSpPr>
        <p:spPr>
          <a:xfrm flipH="1" rot="10800000">
            <a:off x="6697075" y="3551550"/>
            <a:ext cx="6612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29"/>
          <p:cNvSpPr txBox="1"/>
          <p:nvPr>
            <p:ph type="ctrTitle"/>
          </p:nvPr>
        </p:nvSpPr>
        <p:spPr>
          <a:xfrm>
            <a:off x="-1832697" y="2344350"/>
            <a:ext cx="49686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/>
              <a:t>팀</a:t>
            </a:r>
            <a:r>
              <a:rPr lang="ko" sz="3000"/>
              <a:t>원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시연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프로젝트 관리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/>
          <p:nvPr/>
        </p:nvSpPr>
        <p:spPr>
          <a:xfrm>
            <a:off x="76200" y="2193437"/>
            <a:ext cx="1686000" cy="906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 연결</a:t>
            </a:r>
            <a:endParaRPr b="1"/>
          </a:p>
        </p:txBody>
      </p:sp>
      <p:sp>
        <p:nvSpPr>
          <p:cNvPr id="211" name="Google Shape;211;p32"/>
          <p:cNvSpPr/>
          <p:nvPr/>
        </p:nvSpPr>
        <p:spPr>
          <a:xfrm>
            <a:off x="2471620" y="2193437"/>
            <a:ext cx="1686000" cy="906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프로젝트 생성</a:t>
            </a:r>
            <a:endParaRPr b="1"/>
          </a:p>
        </p:txBody>
      </p:sp>
      <p:sp>
        <p:nvSpPr>
          <p:cNvPr id="212" name="Google Shape;212;p32"/>
          <p:cNvSpPr/>
          <p:nvPr/>
        </p:nvSpPr>
        <p:spPr>
          <a:xfrm>
            <a:off x="4919071" y="2193437"/>
            <a:ext cx="1686000" cy="906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상태 관리</a:t>
            </a:r>
            <a:endParaRPr b="1"/>
          </a:p>
        </p:txBody>
      </p:sp>
      <p:sp>
        <p:nvSpPr>
          <p:cNvPr id="213" name="Google Shape;213;p32"/>
          <p:cNvSpPr/>
          <p:nvPr/>
        </p:nvSpPr>
        <p:spPr>
          <a:xfrm>
            <a:off x="7400962" y="2188050"/>
            <a:ext cx="1686000" cy="906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피드백</a:t>
            </a:r>
            <a:endParaRPr b="1"/>
          </a:p>
        </p:txBody>
      </p:sp>
      <p:cxnSp>
        <p:nvCxnSpPr>
          <p:cNvPr id="214" name="Google Shape;214;p32"/>
          <p:cNvCxnSpPr/>
          <p:nvPr/>
        </p:nvCxnSpPr>
        <p:spPr>
          <a:xfrm>
            <a:off x="1785937" y="2646881"/>
            <a:ext cx="66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32"/>
          <p:cNvCxnSpPr/>
          <p:nvPr/>
        </p:nvCxnSpPr>
        <p:spPr>
          <a:xfrm flipH="1" rot="10800000">
            <a:off x="4197715" y="2636081"/>
            <a:ext cx="6516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32"/>
          <p:cNvCxnSpPr/>
          <p:nvPr/>
        </p:nvCxnSpPr>
        <p:spPr>
          <a:xfrm flipH="1" rot="10800000">
            <a:off x="6675664" y="2636081"/>
            <a:ext cx="6516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시연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관리자/신고 처리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/>
          <p:nvPr/>
        </p:nvSpPr>
        <p:spPr>
          <a:xfrm>
            <a:off x="849575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사용자 신고</a:t>
            </a:r>
            <a:endParaRPr b="1"/>
          </a:p>
        </p:txBody>
      </p:sp>
      <p:sp>
        <p:nvSpPr>
          <p:cNvPr id="232" name="Google Shape;232;p35"/>
          <p:cNvSpPr/>
          <p:nvPr/>
        </p:nvSpPr>
        <p:spPr>
          <a:xfrm>
            <a:off x="37165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신고 저장</a:t>
            </a:r>
            <a:endParaRPr b="1"/>
          </a:p>
        </p:txBody>
      </p:sp>
      <p:sp>
        <p:nvSpPr>
          <p:cNvPr id="233" name="Google Shape;233;p35"/>
          <p:cNvSpPr/>
          <p:nvPr/>
        </p:nvSpPr>
        <p:spPr>
          <a:xfrm>
            <a:off x="84957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신고자에게 알림</a:t>
            </a:r>
            <a:endParaRPr b="1"/>
          </a:p>
        </p:txBody>
      </p:sp>
      <p:sp>
        <p:nvSpPr>
          <p:cNvPr id="234" name="Google Shape;234;p35"/>
          <p:cNvSpPr/>
          <p:nvPr/>
        </p:nvSpPr>
        <p:spPr>
          <a:xfrm>
            <a:off x="6717650" y="8090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관리자 검토</a:t>
            </a:r>
            <a:endParaRPr b="1"/>
          </a:p>
        </p:txBody>
      </p:sp>
      <p:sp>
        <p:nvSpPr>
          <p:cNvPr id="235" name="Google Shape;235;p35"/>
          <p:cNvSpPr/>
          <p:nvPr/>
        </p:nvSpPr>
        <p:spPr>
          <a:xfrm>
            <a:off x="6717650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관리자 처리 결정</a:t>
            </a:r>
            <a:endParaRPr b="1"/>
          </a:p>
        </p:txBody>
      </p:sp>
      <p:sp>
        <p:nvSpPr>
          <p:cNvPr id="236" name="Google Shape;236;p35"/>
          <p:cNvSpPr/>
          <p:nvPr/>
        </p:nvSpPr>
        <p:spPr>
          <a:xfrm>
            <a:off x="3806425" y="3190900"/>
            <a:ext cx="1710900" cy="909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처리 결과 적용 </a:t>
            </a:r>
            <a:endParaRPr b="1"/>
          </a:p>
        </p:txBody>
      </p:sp>
      <p:cxnSp>
        <p:nvCxnSpPr>
          <p:cNvPr id="237" name="Google Shape;237;p35"/>
          <p:cNvCxnSpPr/>
          <p:nvPr/>
        </p:nvCxnSpPr>
        <p:spPr>
          <a:xfrm>
            <a:off x="2739625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5"/>
          <p:cNvCxnSpPr/>
          <p:nvPr/>
        </p:nvCxnSpPr>
        <p:spPr>
          <a:xfrm>
            <a:off x="5692900" y="1287475"/>
            <a:ext cx="75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5"/>
          <p:cNvCxnSpPr/>
          <p:nvPr/>
        </p:nvCxnSpPr>
        <p:spPr>
          <a:xfrm>
            <a:off x="7569200" y="2094450"/>
            <a:ext cx="7800" cy="72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5"/>
          <p:cNvCxnSpPr/>
          <p:nvPr/>
        </p:nvCxnSpPr>
        <p:spPr>
          <a:xfrm flipH="1">
            <a:off x="569838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35"/>
          <p:cNvCxnSpPr/>
          <p:nvPr/>
        </p:nvCxnSpPr>
        <p:spPr>
          <a:xfrm flipH="1">
            <a:off x="2764338" y="3641350"/>
            <a:ext cx="838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시연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핵심 기술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ctrTitle"/>
          </p:nvPr>
        </p:nvSpPr>
        <p:spPr>
          <a:xfrm>
            <a:off x="311708" y="1278750"/>
            <a:ext cx="8520600" cy="25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스프링 시큐리티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+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JWT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0" y="1678950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애노테이션 기반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권한 인증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2125"/>
            <a:ext cx="8839201" cy="2655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7200"/>
            <a:ext cx="8839202" cy="945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83419"/>
            <a:ext cx="8839201" cy="23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586" y="0"/>
            <a:ext cx="77708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Redis</a:t>
            </a:r>
            <a:endParaRPr/>
          </a:p>
        </p:txBody>
      </p:sp>
      <p:pic>
        <p:nvPicPr>
          <p:cNvPr id="279" name="Google Shape;27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8550" y="716450"/>
            <a:ext cx="3573576" cy="24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ctrTitle"/>
          </p:nvPr>
        </p:nvSpPr>
        <p:spPr>
          <a:xfrm>
            <a:off x="211650" y="2441375"/>
            <a:ext cx="7901400" cy="203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501650" lvl="0" marL="457200" rtl="0" algn="l">
              <a:spcBef>
                <a:spcPts val="0"/>
              </a:spcBef>
              <a:spcAft>
                <a:spcPts val="0"/>
              </a:spcAft>
              <a:buSzPts val="4300"/>
              <a:buChar char="-"/>
            </a:pPr>
            <a:r>
              <a:rPr lang="ko" sz="4300"/>
              <a:t>JWT </a:t>
            </a:r>
            <a:r>
              <a:rPr lang="ko" sz="4300"/>
              <a:t>토큰 관리</a:t>
            </a:r>
            <a:endParaRPr sz="4300"/>
          </a:p>
          <a:p>
            <a:pPr indent="-501650" lvl="0" marL="457200" rtl="0" algn="l">
              <a:spcBef>
                <a:spcPts val="0"/>
              </a:spcBef>
              <a:spcAft>
                <a:spcPts val="0"/>
              </a:spcAft>
              <a:buSzPts val="4300"/>
              <a:buChar char="-"/>
            </a:pPr>
            <a:r>
              <a:rPr lang="ko" sz="4300"/>
              <a:t>이메일 인증 코드 관리</a:t>
            </a:r>
            <a:endParaRPr sz="4300"/>
          </a:p>
          <a:p>
            <a:pPr indent="-501650" lvl="0" marL="457200" rtl="0" algn="l">
              <a:spcBef>
                <a:spcPts val="0"/>
              </a:spcBef>
              <a:spcAft>
                <a:spcPts val="0"/>
              </a:spcAft>
              <a:buSzPts val="4300"/>
              <a:buChar char="-"/>
            </a:pPr>
            <a:r>
              <a:rPr lang="ko" sz="4300"/>
              <a:t>알림 시스템</a:t>
            </a:r>
            <a:endParaRPr sz="4300"/>
          </a:p>
          <a:p>
            <a:pPr indent="-501650" lvl="0" marL="457200" rtl="0" algn="l">
              <a:spcBef>
                <a:spcPts val="0"/>
              </a:spcBef>
              <a:spcAft>
                <a:spcPts val="0"/>
              </a:spcAft>
              <a:buSzPts val="4300"/>
              <a:buChar char="-"/>
            </a:pPr>
            <a:r>
              <a:rPr lang="ko" sz="4300"/>
              <a:t>조회수 중복 방지</a:t>
            </a:r>
            <a:endParaRPr sz="4300"/>
          </a:p>
          <a:p>
            <a:pPr indent="-501650" lvl="0" marL="457200" rtl="0" algn="l">
              <a:spcBef>
                <a:spcPts val="0"/>
              </a:spcBef>
              <a:spcAft>
                <a:spcPts val="0"/>
              </a:spcAft>
              <a:buSzPts val="4300"/>
              <a:buChar char="-"/>
            </a:pPr>
            <a:r>
              <a:rPr lang="ko" sz="4300"/>
              <a:t>좋아요 관리</a:t>
            </a:r>
            <a:endParaRPr sz="4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4"/>
          <p:cNvSpPr txBox="1"/>
          <p:nvPr>
            <p:ph type="ctrTitle"/>
          </p:nvPr>
        </p:nvSpPr>
        <p:spPr>
          <a:xfrm>
            <a:off x="-313900" y="81550"/>
            <a:ext cx="63018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조회수 중복 방지</a:t>
            </a:r>
            <a:endParaRPr/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4250"/>
            <a:ext cx="8839198" cy="3310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625" y="304800"/>
            <a:ext cx="57223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5"/>
          <p:cNvSpPr txBox="1"/>
          <p:nvPr>
            <p:ph type="ctrTitle"/>
          </p:nvPr>
        </p:nvSpPr>
        <p:spPr>
          <a:xfrm>
            <a:off x="311708" y="1678950"/>
            <a:ext cx="8520600" cy="17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알림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Redis + SSE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6"/>
          <p:cNvSpPr txBox="1"/>
          <p:nvPr/>
        </p:nvSpPr>
        <p:spPr>
          <a:xfrm>
            <a:off x="450400" y="404750"/>
            <a:ext cx="31047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dk2"/>
                </a:solidFill>
              </a:rPr>
              <a:t>알림 생성 및 발행</a:t>
            </a:r>
            <a:endParaRPr b="1" sz="2500">
              <a:solidFill>
                <a:schemeClr val="dk2"/>
              </a:solidFill>
            </a:endParaRPr>
          </a:p>
        </p:txBody>
      </p:sp>
      <p:sp>
        <p:nvSpPr>
          <p:cNvPr id="302" name="Google Shape;302;p46"/>
          <p:cNvSpPr/>
          <p:nvPr/>
        </p:nvSpPr>
        <p:spPr>
          <a:xfrm>
            <a:off x="141038" y="13136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이벤트 발생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(댓글/ 좋아요)</a:t>
            </a:r>
            <a:endParaRPr b="1"/>
          </a:p>
        </p:txBody>
      </p:sp>
      <p:sp>
        <p:nvSpPr>
          <p:cNvPr id="303" name="Google Shape;303;p46"/>
          <p:cNvSpPr/>
          <p:nvPr/>
        </p:nvSpPr>
        <p:spPr>
          <a:xfrm>
            <a:off x="2496907" y="13136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알림 객체 생성</a:t>
            </a:r>
            <a:endParaRPr b="1"/>
          </a:p>
        </p:txBody>
      </p:sp>
      <p:sp>
        <p:nvSpPr>
          <p:cNvPr id="304" name="Google Shape;304;p46"/>
          <p:cNvSpPr/>
          <p:nvPr/>
        </p:nvSpPr>
        <p:spPr>
          <a:xfrm>
            <a:off x="4903948" y="13136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Redis 저장</a:t>
            </a:r>
            <a:endParaRPr b="1"/>
          </a:p>
        </p:txBody>
      </p:sp>
      <p:sp>
        <p:nvSpPr>
          <p:cNvPr id="305" name="Google Shape;305;p46"/>
          <p:cNvSpPr/>
          <p:nvPr/>
        </p:nvSpPr>
        <p:spPr>
          <a:xfrm>
            <a:off x="7344861" y="1308638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Redis 채널 발행</a:t>
            </a:r>
            <a:endParaRPr b="1"/>
          </a:p>
        </p:txBody>
      </p:sp>
      <p:cxnSp>
        <p:nvCxnSpPr>
          <p:cNvPr id="306" name="Google Shape;306;p46"/>
          <p:cNvCxnSpPr/>
          <p:nvPr/>
        </p:nvCxnSpPr>
        <p:spPr>
          <a:xfrm>
            <a:off x="1822545" y="1736072"/>
            <a:ext cx="65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46"/>
          <p:cNvCxnSpPr/>
          <p:nvPr/>
        </p:nvCxnSpPr>
        <p:spPr>
          <a:xfrm flipH="1" rot="10800000">
            <a:off x="4194503" y="1726172"/>
            <a:ext cx="640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46"/>
          <p:cNvCxnSpPr/>
          <p:nvPr/>
        </p:nvCxnSpPr>
        <p:spPr>
          <a:xfrm flipH="1" rot="10800000">
            <a:off x="6631539" y="1726172"/>
            <a:ext cx="640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46"/>
          <p:cNvSpPr txBox="1"/>
          <p:nvPr/>
        </p:nvSpPr>
        <p:spPr>
          <a:xfrm>
            <a:off x="450400" y="2843150"/>
            <a:ext cx="2928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dk2"/>
                </a:solidFill>
              </a:rPr>
              <a:t>알림 구독 및 전달</a:t>
            </a:r>
            <a:endParaRPr b="1" sz="2500">
              <a:solidFill>
                <a:schemeClr val="dk2"/>
              </a:solidFill>
            </a:endParaRPr>
          </a:p>
        </p:txBody>
      </p:sp>
      <p:sp>
        <p:nvSpPr>
          <p:cNvPr id="310" name="Google Shape;310;p46"/>
          <p:cNvSpPr/>
          <p:nvPr/>
        </p:nvSpPr>
        <p:spPr>
          <a:xfrm>
            <a:off x="141038" y="37520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클라이언트 로그인</a:t>
            </a:r>
            <a:endParaRPr b="1"/>
          </a:p>
        </p:txBody>
      </p:sp>
      <p:sp>
        <p:nvSpPr>
          <p:cNvPr id="311" name="Google Shape;311;p46"/>
          <p:cNvSpPr/>
          <p:nvPr/>
        </p:nvSpPr>
        <p:spPr>
          <a:xfrm>
            <a:off x="2496907" y="37520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SSE 연결 요청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(/subscribe)</a:t>
            </a:r>
            <a:endParaRPr b="1"/>
          </a:p>
        </p:txBody>
      </p:sp>
      <p:sp>
        <p:nvSpPr>
          <p:cNvPr id="312" name="Google Shape;312;p46"/>
          <p:cNvSpPr/>
          <p:nvPr/>
        </p:nvSpPr>
        <p:spPr>
          <a:xfrm>
            <a:off x="4903948" y="3752056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SSEEmitter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생성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(사용자별 관리)</a:t>
            </a:r>
            <a:endParaRPr b="1"/>
          </a:p>
        </p:txBody>
      </p:sp>
      <p:sp>
        <p:nvSpPr>
          <p:cNvPr id="313" name="Google Shape;313;p46"/>
          <p:cNvSpPr/>
          <p:nvPr/>
        </p:nvSpPr>
        <p:spPr>
          <a:xfrm>
            <a:off x="7344861" y="3747038"/>
            <a:ext cx="1658100" cy="8448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Heartbeat 설정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(15초 간격)</a:t>
            </a:r>
            <a:endParaRPr b="1"/>
          </a:p>
        </p:txBody>
      </p:sp>
      <p:cxnSp>
        <p:nvCxnSpPr>
          <p:cNvPr id="314" name="Google Shape;314;p46"/>
          <p:cNvCxnSpPr/>
          <p:nvPr/>
        </p:nvCxnSpPr>
        <p:spPr>
          <a:xfrm>
            <a:off x="1822545" y="4174472"/>
            <a:ext cx="651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46"/>
          <p:cNvCxnSpPr/>
          <p:nvPr/>
        </p:nvCxnSpPr>
        <p:spPr>
          <a:xfrm flipH="1" rot="10800000">
            <a:off x="4194503" y="4164572"/>
            <a:ext cx="640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46"/>
          <p:cNvCxnSpPr/>
          <p:nvPr/>
        </p:nvCxnSpPr>
        <p:spPr>
          <a:xfrm flipH="1" rot="10800000">
            <a:off x="6631539" y="4164572"/>
            <a:ext cx="640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50" y="152400"/>
            <a:ext cx="428337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929" y="152400"/>
            <a:ext cx="391420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트랜잭션 전파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75" y="152400"/>
            <a:ext cx="833331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type="ctrTitle"/>
          </p:nvPr>
        </p:nvSpPr>
        <p:spPr>
          <a:xfrm>
            <a:off x="311708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트랜잭션 전파</a:t>
            </a:r>
            <a:endParaRPr/>
          </a:p>
        </p:txBody>
      </p:sp>
      <p:pic>
        <p:nvPicPr>
          <p:cNvPr id="338" name="Google Shape;3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075" y="362275"/>
            <a:ext cx="8627851" cy="405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1"/>
          <p:cNvSpPr txBox="1"/>
          <p:nvPr>
            <p:ph type="ctrTitle"/>
          </p:nvPr>
        </p:nvSpPr>
        <p:spPr>
          <a:xfrm>
            <a:off x="311708" y="16789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스케줄러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/>
          <p:nvPr/>
        </p:nvSpPr>
        <p:spPr>
          <a:xfrm>
            <a:off x="95250" y="70750"/>
            <a:ext cx="1718100" cy="700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사용자</a:t>
            </a:r>
            <a:endParaRPr b="1"/>
          </a:p>
        </p:txBody>
      </p:sp>
      <p:sp>
        <p:nvSpPr>
          <p:cNvPr id="349" name="Google Shape;349;p52"/>
          <p:cNvSpPr/>
          <p:nvPr/>
        </p:nvSpPr>
        <p:spPr>
          <a:xfrm>
            <a:off x="95250" y="1119403"/>
            <a:ext cx="1718100" cy="700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팀장 / 팀원</a:t>
            </a:r>
            <a:endParaRPr b="1"/>
          </a:p>
        </p:txBody>
      </p:sp>
      <p:sp>
        <p:nvSpPr>
          <p:cNvPr id="350" name="Google Shape;350;p52"/>
          <p:cNvSpPr/>
          <p:nvPr/>
        </p:nvSpPr>
        <p:spPr>
          <a:xfrm>
            <a:off x="95250" y="2174357"/>
            <a:ext cx="1718100" cy="700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담당자</a:t>
            </a:r>
            <a:endParaRPr b="1"/>
          </a:p>
        </p:txBody>
      </p:sp>
      <p:sp>
        <p:nvSpPr>
          <p:cNvPr id="351" name="Google Shape;351;p52"/>
          <p:cNvSpPr/>
          <p:nvPr/>
        </p:nvSpPr>
        <p:spPr>
          <a:xfrm>
            <a:off x="95250" y="3241930"/>
            <a:ext cx="1718100" cy="700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피드백</a:t>
            </a:r>
            <a:endParaRPr b="1"/>
          </a:p>
        </p:txBody>
      </p:sp>
      <p:cxnSp>
        <p:nvCxnSpPr>
          <p:cNvPr id="352" name="Google Shape;352;p52"/>
          <p:cNvCxnSpPr/>
          <p:nvPr/>
        </p:nvCxnSpPr>
        <p:spPr>
          <a:xfrm>
            <a:off x="951839" y="771291"/>
            <a:ext cx="5100" cy="3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52"/>
          <p:cNvCxnSpPr/>
          <p:nvPr/>
        </p:nvCxnSpPr>
        <p:spPr>
          <a:xfrm>
            <a:off x="951839" y="1823085"/>
            <a:ext cx="5100" cy="3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52"/>
          <p:cNvCxnSpPr/>
          <p:nvPr/>
        </p:nvCxnSpPr>
        <p:spPr>
          <a:xfrm>
            <a:off x="951839" y="2874898"/>
            <a:ext cx="5100" cy="3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52"/>
          <p:cNvSpPr/>
          <p:nvPr/>
        </p:nvSpPr>
        <p:spPr>
          <a:xfrm>
            <a:off x="95250" y="4341464"/>
            <a:ext cx="1718100" cy="700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담당자</a:t>
            </a:r>
            <a:endParaRPr b="1"/>
          </a:p>
        </p:txBody>
      </p:sp>
      <p:cxnSp>
        <p:nvCxnSpPr>
          <p:cNvPr id="356" name="Google Shape;356;p52"/>
          <p:cNvCxnSpPr/>
          <p:nvPr/>
        </p:nvCxnSpPr>
        <p:spPr>
          <a:xfrm>
            <a:off x="951839" y="3974431"/>
            <a:ext cx="5100" cy="35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52"/>
          <p:cNvSpPr txBox="1"/>
          <p:nvPr/>
        </p:nvSpPr>
        <p:spPr>
          <a:xfrm>
            <a:off x="1919600" y="172500"/>
            <a:ext cx="5905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스케줄 생성  </a:t>
            </a:r>
            <a:r>
              <a:rPr b="1" lang="ko">
                <a:solidFill>
                  <a:schemeClr val="dk1"/>
                </a:solidFill>
              </a:rPr>
              <a:t>→ </a:t>
            </a:r>
            <a:r>
              <a:rPr lang="ko">
                <a:solidFill>
                  <a:schemeClr val="dk1"/>
                </a:solidFill>
              </a:rPr>
              <a:t> [시스템] 저장 및 팀원에게 알림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p52"/>
          <p:cNvSpPr txBox="1"/>
          <p:nvPr/>
        </p:nvSpPr>
        <p:spPr>
          <a:xfrm>
            <a:off x="1919600" y="1239300"/>
            <a:ext cx="5905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스케줄 </a:t>
            </a:r>
            <a:r>
              <a:rPr lang="ko">
                <a:solidFill>
                  <a:schemeClr val="dk1"/>
                </a:solidFill>
              </a:rPr>
              <a:t>조회</a:t>
            </a:r>
            <a:r>
              <a:rPr lang="ko">
                <a:solidFill>
                  <a:schemeClr val="dk1"/>
                </a:solidFill>
              </a:rPr>
              <a:t>  </a:t>
            </a:r>
            <a:r>
              <a:rPr b="1" lang="ko">
                <a:solidFill>
                  <a:schemeClr val="dk1"/>
                </a:solidFill>
              </a:rPr>
              <a:t>→ </a:t>
            </a:r>
            <a:r>
              <a:rPr lang="ko">
                <a:solidFill>
                  <a:schemeClr val="dk1"/>
                </a:solidFill>
              </a:rPr>
              <a:t> [시스템] 팀</a:t>
            </a:r>
            <a:r>
              <a:rPr lang="ko">
                <a:solidFill>
                  <a:schemeClr val="dk1"/>
                </a:solidFill>
              </a:rPr>
              <a:t>별 스케줄 표시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9" name="Google Shape;359;p52"/>
          <p:cNvSpPr txBox="1"/>
          <p:nvPr/>
        </p:nvSpPr>
        <p:spPr>
          <a:xfrm>
            <a:off x="1919600" y="2306100"/>
            <a:ext cx="5905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스케줄 수정 </a:t>
            </a:r>
            <a:r>
              <a:rPr b="1" lang="ko">
                <a:solidFill>
                  <a:schemeClr val="dk1"/>
                </a:solidFill>
              </a:rPr>
              <a:t>→ </a:t>
            </a:r>
            <a:r>
              <a:rPr lang="ko">
                <a:solidFill>
                  <a:schemeClr val="dk1"/>
                </a:solidFill>
              </a:rPr>
              <a:t>[시스템] 업데이트 및 알림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0" name="Google Shape;360;p52"/>
          <p:cNvSpPr txBox="1"/>
          <p:nvPr/>
        </p:nvSpPr>
        <p:spPr>
          <a:xfrm>
            <a:off x="1919600" y="3372900"/>
            <a:ext cx="5905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마감일 24시간 전</a:t>
            </a:r>
            <a:r>
              <a:rPr lang="ko">
                <a:solidFill>
                  <a:schemeClr val="dk1"/>
                </a:solidFill>
              </a:rPr>
              <a:t>  →  </a:t>
            </a:r>
            <a:r>
              <a:rPr lang="ko">
                <a:solidFill>
                  <a:schemeClr val="dk1"/>
                </a:solidFill>
              </a:rPr>
              <a:t>알림 발송 →  [팀원들]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52"/>
          <p:cNvSpPr txBox="1"/>
          <p:nvPr/>
        </p:nvSpPr>
        <p:spPr>
          <a:xfrm>
            <a:off x="1919600" y="4439700"/>
            <a:ext cx="59055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스케줄 </a:t>
            </a:r>
            <a:r>
              <a:rPr lang="ko">
                <a:solidFill>
                  <a:schemeClr val="dk1"/>
                </a:solidFill>
              </a:rPr>
              <a:t>상태 변경 (대기/진행중/완료)</a:t>
            </a:r>
            <a:r>
              <a:rPr lang="ko">
                <a:solidFill>
                  <a:schemeClr val="dk1"/>
                </a:solidFill>
              </a:rPr>
              <a:t>  </a:t>
            </a:r>
            <a:r>
              <a:rPr b="1" lang="ko">
                <a:solidFill>
                  <a:schemeClr val="dk1"/>
                </a:solidFill>
              </a:rPr>
              <a:t>→ </a:t>
            </a:r>
            <a:r>
              <a:rPr lang="ko">
                <a:solidFill>
                  <a:schemeClr val="dk1"/>
                </a:solidFill>
              </a:rPr>
              <a:t> [시스템] </a:t>
            </a:r>
            <a:r>
              <a:rPr lang="ko">
                <a:solidFill>
                  <a:schemeClr val="dk1"/>
                </a:solidFill>
              </a:rPr>
              <a:t>업데이트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0809"/>
            <a:ext cx="9144000" cy="3621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14" y="0"/>
            <a:ext cx="828322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152" y="13"/>
            <a:ext cx="75892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회고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type="ctrTitle"/>
          </p:nvPr>
        </p:nvSpPr>
        <p:spPr>
          <a:xfrm>
            <a:off x="311700" y="2079150"/>
            <a:ext cx="8520600" cy="9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끗 ^0^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